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658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.KAVYA JASMINE" userId="6c2fe6fbcb2c0430" providerId="LiveId" clId="{90AD7EB5-870A-4CF9-A1C5-10F43B212082}"/>
    <pc:docChg chg="custSel addSld modSld">
      <pc:chgData name="V.KAVYA JASMINE" userId="6c2fe6fbcb2c0430" providerId="LiveId" clId="{90AD7EB5-870A-4CF9-A1C5-10F43B212082}" dt="2026-07-28T09:25:30.293" v="59" actId="14100"/>
      <pc:docMkLst>
        <pc:docMk/>
      </pc:docMkLst>
      <pc:sldChg chg="addSp delSp modSp mod">
        <pc:chgData name="V.KAVYA JASMINE" userId="6c2fe6fbcb2c0430" providerId="LiveId" clId="{90AD7EB5-870A-4CF9-A1C5-10F43B212082}" dt="2026-07-23T08:41:03.949" v="53" actId="14100"/>
        <pc:sldMkLst>
          <pc:docMk/>
          <pc:sldMk cId="0" sldId="256"/>
        </pc:sldMkLst>
        <pc:spChg chg="mod">
          <ac:chgData name="V.KAVYA JASMINE" userId="6c2fe6fbcb2c0430" providerId="LiveId" clId="{90AD7EB5-870A-4CF9-A1C5-10F43B212082}" dt="2026-07-23T08:40:42.370" v="48" actId="14100"/>
          <ac:spMkLst>
            <pc:docMk/>
            <pc:sldMk cId="0" sldId="256"/>
            <ac:spMk id="8" creationId="{00000000-0000-0000-0000-000000000000}"/>
          </ac:spMkLst>
        </pc:spChg>
        <pc:spChg chg="mod">
          <ac:chgData name="V.KAVYA JASMINE" userId="6c2fe6fbcb2c0430" providerId="LiveId" clId="{90AD7EB5-870A-4CF9-A1C5-10F43B212082}" dt="2026-07-23T08:40:48.409" v="49" actId="1076"/>
          <ac:spMkLst>
            <pc:docMk/>
            <pc:sldMk cId="0" sldId="256"/>
            <ac:spMk id="9" creationId="{00000000-0000-0000-0000-000000000000}"/>
          </ac:spMkLst>
        </pc:spChg>
        <pc:picChg chg="mod">
          <ac:chgData name="V.KAVYA JASMINE" userId="6c2fe6fbcb2c0430" providerId="LiveId" clId="{90AD7EB5-870A-4CF9-A1C5-10F43B212082}" dt="2026-07-23T08:32:21.281" v="7" actId="14100"/>
          <ac:picMkLst>
            <pc:docMk/>
            <pc:sldMk cId="0" sldId="256"/>
            <ac:picMk id="5" creationId="{00000000-0000-0000-0000-000000000000}"/>
          </ac:picMkLst>
        </pc:picChg>
        <pc:picChg chg="add mod">
          <ac:chgData name="V.KAVYA JASMINE" userId="6c2fe6fbcb2c0430" providerId="LiveId" clId="{90AD7EB5-870A-4CF9-A1C5-10F43B212082}" dt="2026-07-23T08:40:56.472" v="51" actId="14100"/>
          <ac:picMkLst>
            <pc:docMk/>
            <pc:sldMk cId="0" sldId="256"/>
            <ac:picMk id="14" creationId="{C811CA34-CFBB-7E50-15F6-4F599DBF4F38}"/>
          </ac:picMkLst>
        </pc:picChg>
        <pc:picChg chg="add mod">
          <ac:chgData name="V.KAVYA JASMINE" userId="6c2fe6fbcb2c0430" providerId="LiveId" clId="{90AD7EB5-870A-4CF9-A1C5-10F43B212082}" dt="2026-07-23T08:41:03.949" v="53" actId="14100"/>
          <ac:picMkLst>
            <pc:docMk/>
            <pc:sldMk cId="0" sldId="256"/>
            <ac:picMk id="16" creationId="{995B1F90-3D2B-D240-F157-56483A3F55B2}"/>
          </ac:picMkLst>
        </pc:picChg>
      </pc:sldChg>
      <pc:sldChg chg="modSp mod">
        <pc:chgData name="V.KAVYA JASMINE" userId="6c2fe6fbcb2c0430" providerId="LiveId" clId="{90AD7EB5-870A-4CF9-A1C5-10F43B212082}" dt="2026-07-23T08:33:02.807" v="8" actId="207"/>
        <pc:sldMkLst>
          <pc:docMk/>
          <pc:sldMk cId="0" sldId="257"/>
        </pc:sldMkLst>
        <pc:spChg chg="mod">
          <ac:chgData name="V.KAVYA JASMINE" userId="6c2fe6fbcb2c0430" providerId="LiveId" clId="{90AD7EB5-870A-4CF9-A1C5-10F43B212082}" dt="2026-07-23T08:33:02.807" v="8" actId="207"/>
          <ac:spMkLst>
            <pc:docMk/>
            <pc:sldMk cId="0" sldId="257"/>
            <ac:spMk id="2" creationId="{00000000-0000-0000-0000-000000000000}"/>
          </ac:spMkLst>
        </pc:spChg>
      </pc:sldChg>
      <pc:sldChg chg="modSp mod">
        <pc:chgData name="V.KAVYA JASMINE" userId="6c2fe6fbcb2c0430" providerId="LiveId" clId="{90AD7EB5-870A-4CF9-A1C5-10F43B212082}" dt="2026-07-23T08:33:12.994" v="9" actId="207"/>
        <pc:sldMkLst>
          <pc:docMk/>
          <pc:sldMk cId="0" sldId="258"/>
        </pc:sldMkLst>
        <pc:spChg chg="mod">
          <ac:chgData name="V.KAVYA JASMINE" userId="6c2fe6fbcb2c0430" providerId="LiveId" clId="{90AD7EB5-870A-4CF9-A1C5-10F43B212082}" dt="2026-07-23T08:33:12.994" v="9" actId="207"/>
          <ac:spMkLst>
            <pc:docMk/>
            <pc:sldMk cId="0" sldId="258"/>
            <ac:spMk id="2" creationId="{00000000-0000-0000-0000-000000000000}"/>
          </ac:spMkLst>
        </pc:spChg>
      </pc:sldChg>
      <pc:sldChg chg="modSp mod">
        <pc:chgData name="V.KAVYA JASMINE" userId="6c2fe6fbcb2c0430" providerId="LiveId" clId="{90AD7EB5-870A-4CF9-A1C5-10F43B212082}" dt="2026-07-23T08:38:42.121" v="47" actId="6549"/>
        <pc:sldMkLst>
          <pc:docMk/>
          <pc:sldMk cId="0" sldId="259"/>
        </pc:sldMkLst>
        <pc:spChg chg="mod">
          <ac:chgData name="V.KAVYA JASMINE" userId="6c2fe6fbcb2c0430" providerId="LiveId" clId="{90AD7EB5-870A-4CF9-A1C5-10F43B212082}" dt="2026-07-23T08:33:22.387" v="10" actId="207"/>
          <ac:spMkLst>
            <pc:docMk/>
            <pc:sldMk cId="0" sldId="259"/>
            <ac:spMk id="2" creationId="{00000000-0000-0000-0000-000000000000}"/>
          </ac:spMkLst>
        </pc:spChg>
        <pc:spChg chg="mod">
          <ac:chgData name="V.KAVYA JASMINE" userId="6c2fe6fbcb2c0430" providerId="LiveId" clId="{90AD7EB5-870A-4CF9-A1C5-10F43B212082}" dt="2026-07-23T08:38:42.121" v="47" actId="6549"/>
          <ac:spMkLst>
            <pc:docMk/>
            <pc:sldMk cId="0" sldId="259"/>
            <ac:spMk id="9" creationId="{00000000-0000-0000-0000-000000000000}"/>
          </ac:spMkLst>
        </pc:spChg>
      </pc:sldChg>
      <pc:sldChg chg="modSp mod">
        <pc:chgData name="V.KAVYA JASMINE" userId="6c2fe6fbcb2c0430" providerId="LiveId" clId="{90AD7EB5-870A-4CF9-A1C5-10F43B212082}" dt="2026-07-23T08:33:29.578" v="11" actId="207"/>
        <pc:sldMkLst>
          <pc:docMk/>
          <pc:sldMk cId="0" sldId="260"/>
        </pc:sldMkLst>
        <pc:spChg chg="mod">
          <ac:chgData name="V.KAVYA JASMINE" userId="6c2fe6fbcb2c0430" providerId="LiveId" clId="{90AD7EB5-870A-4CF9-A1C5-10F43B212082}" dt="2026-07-23T08:33:29.578" v="11" actId="207"/>
          <ac:spMkLst>
            <pc:docMk/>
            <pc:sldMk cId="0" sldId="260"/>
            <ac:spMk id="2" creationId="{00000000-0000-0000-0000-000000000000}"/>
          </ac:spMkLst>
        </pc:spChg>
      </pc:sldChg>
      <pc:sldChg chg="modSp mod">
        <pc:chgData name="V.KAVYA JASMINE" userId="6c2fe6fbcb2c0430" providerId="LiveId" clId="{90AD7EB5-870A-4CF9-A1C5-10F43B212082}" dt="2026-07-23T08:33:39.462" v="12" actId="207"/>
        <pc:sldMkLst>
          <pc:docMk/>
          <pc:sldMk cId="0" sldId="261"/>
        </pc:sldMkLst>
        <pc:spChg chg="mod">
          <ac:chgData name="V.KAVYA JASMINE" userId="6c2fe6fbcb2c0430" providerId="LiveId" clId="{90AD7EB5-870A-4CF9-A1C5-10F43B212082}" dt="2026-07-23T08:33:39.462" v="12" actId="207"/>
          <ac:spMkLst>
            <pc:docMk/>
            <pc:sldMk cId="0" sldId="261"/>
            <ac:spMk id="2" creationId="{00000000-0000-0000-0000-000000000000}"/>
          </ac:spMkLst>
        </pc:spChg>
      </pc:sldChg>
      <pc:sldChg chg="addSp modSp new mod">
        <pc:chgData name="V.KAVYA JASMINE" userId="6c2fe6fbcb2c0430" providerId="LiveId" clId="{90AD7EB5-870A-4CF9-A1C5-10F43B212082}" dt="2026-07-28T09:25:30.293" v="59" actId="14100"/>
        <pc:sldMkLst>
          <pc:docMk/>
          <pc:sldMk cId="473305092" sldId="262"/>
        </pc:sldMkLst>
        <pc:picChg chg="add mod">
          <ac:chgData name="V.KAVYA JASMINE" userId="6c2fe6fbcb2c0430" providerId="LiveId" clId="{90AD7EB5-870A-4CF9-A1C5-10F43B212082}" dt="2026-07-28T09:25:30.293" v="59" actId="14100"/>
          <ac:picMkLst>
            <pc:docMk/>
            <pc:sldMk cId="473305092" sldId="262"/>
            <ac:picMk id="3" creationId="{8D76ECE3-26D6-3867-8015-2D771799422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5734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1" descr="assets/logo_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321040"/>
            <a:ext cx="18288000" cy="1965960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0" y="0"/>
            <a:ext cx="18265141" cy="2216727"/>
          </a:xfrm>
          <a:prstGeom prst="rect">
            <a:avLst/>
          </a:prstGeom>
          <a:solidFill>
            <a:schemeClr val="tx2">
              <a:lumMod val="50000"/>
            </a:schemeClr>
          </a:solidFill>
          <a:ln/>
        </p:spPr>
      </p:sp>
      <p:sp>
        <p:nvSpPr>
          <p:cNvPr id="9" name="Text 3"/>
          <p:cNvSpPr/>
          <p:nvPr/>
        </p:nvSpPr>
        <p:spPr>
          <a:xfrm>
            <a:off x="1275311" y="25769"/>
            <a:ext cx="15115309" cy="2359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C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and Challenges of</a:t>
            </a:r>
            <a:endParaRPr lang="en-US" sz="48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C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Computing</a:t>
            </a:r>
            <a:endParaRPr lang="en-US" sz="4800" dirty="0"/>
          </a:p>
        </p:txBody>
      </p:sp>
      <p:sp>
        <p:nvSpPr>
          <p:cNvPr id="10" name="Text 4"/>
          <p:cNvSpPr/>
          <p:nvPr/>
        </p:nvSpPr>
        <p:spPr>
          <a:xfrm>
            <a:off x="5705302" y="5614035"/>
            <a:ext cx="1481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:Kavya Jasmine V</a:t>
            </a:r>
          </a:p>
          <a:p>
            <a:pPr marL="0" indent="0"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 no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:192521133</a:t>
            </a:r>
          </a:p>
          <a:p>
            <a:pPr marL="0" indent="0">
              <a:buNone/>
            </a:pP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Course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:Cloud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computing for Big Data Analysis</a:t>
            </a:r>
          </a:p>
          <a:p>
            <a:pPr marL="0" indent="0"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code: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CSA1519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811CA34-CFBB-7E50-15F6-4F599DBF4F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643745" cy="221672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95B1F90-3D2B-D240-F157-56483A3F55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21396" y="0"/>
            <a:ext cx="3643745" cy="22167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3328416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328416"/>
            <a:ext cx="18288000" cy="82296"/>
          </a:xfrm>
          <a:prstGeom prst="rect">
            <a:avLst/>
          </a:prstGeom>
          <a:solidFill>
            <a:srgbClr val="8D9677"/>
          </a:solidFill>
          <a:ln/>
        </p:spPr>
      </p:sp>
      <p:pic>
        <p:nvPicPr>
          <p:cNvPr id="4" name="Image 0" descr="assets/circle_de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0" y="960120"/>
            <a:ext cx="2468880" cy="2715768"/>
          </a:xfrm>
          <a:prstGeom prst="rect">
            <a:avLst/>
          </a:prstGeom>
        </p:spPr>
      </p:pic>
      <p:pic>
        <p:nvPicPr>
          <p:cNvPr id="5" name="Image 1" descr="assets/wave_bottom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50240" y="8833104"/>
            <a:ext cx="3977640" cy="1463040"/>
          </a:xfrm>
          <a:prstGeom prst="rect">
            <a:avLst/>
          </a:prstGeom>
        </p:spPr>
      </p:pic>
      <p:pic>
        <p:nvPicPr>
          <p:cNvPr id="6" name="Image 2" descr="assets/swirl_toplef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481328" cy="1161288"/>
          </a:xfrm>
          <a:prstGeom prst="rect">
            <a:avLst/>
          </a:prstGeom>
        </p:spPr>
      </p:pic>
      <p:pic>
        <p:nvPicPr>
          <p:cNvPr id="7" name="Image 3" descr="assets/logo_topright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96360" y="0"/>
            <a:ext cx="1691640" cy="1161288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1005840" y="1188720"/>
            <a:ext cx="1371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CF4F4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INTRODUCTION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3"/>
          <p:cNvSpPr/>
          <p:nvPr/>
        </p:nvSpPr>
        <p:spPr>
          <a:xfrm>
            <a:off x="1005840" y="3794760"/>
            <a:ext cx="16276320" cy="6126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2800" dirty="0">
                <a:solidFill>
                  <a:srgbClr val="3A3A3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Cloud computing delivers computing services -- servers, storage, databases, networking, and software -- over the internet, commonly called “the cloud.”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2800" dirty="0">
                <a:solidFill>
                  <a:srgbClr val="3A3A3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It removes the need for organizations to own, operate, and maintain physical IT infrastructure on-site.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2800" dirty="0">
                <a:solidFill>
                  <a:srgbClr val="3A3A3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Leading providers include Amazon Web Services (AWS), Microsoft Azure, and Google Cloud Platform.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2800" dirty="0">
                <a:solidFill>
                  <a:srgbClr val="3A3A3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Cloud services are generally offered in three models: Infrastructure as a Service (IaaS), Platform as a Service (PaaS), and Software as a Service (SaaS).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2800" dirty="0">
                <a:solidFill>
                  <a:srgbClr val="3A3A3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Adoption has grown rapidly across industries such as finance, healthcare, education, and retail.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2800" dirty="0">
                <a:solidFill>
                  <a:srgbClr val="3A3A3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Understanding both the benefits and challenges of the cloud helps organizations plan and adopt it effectively</a:t>
            </a:r>
            <a:r>
              <a:rPr lang="en-US" sz="2400" dirty="0">
                <a:solidFill>
                  <a:srgbClr val="3A3A3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4"/>
          <p:cNvSpPr/>
          <p:nvPr/>
        </p:nvSpPr>
        <p:spPr>
          <a:xfrm>
            <a:off x="17190720" y="97840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A9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3328416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328416"/>
            <a:ext cx="18288000" cy="82296"/>
          </a:xfrm>
          <a:prstGeom prst="rect">
            <a:avLst/>
          </a:prstGeom>
          <a:solidFill>
            <a:srgbClr val="8D9677"/>
          </a:solidFill>
          <a:ln/>
        </p:spPr>
      </p:sp>
      <p:pic>
        <p:nvPicPr>
          <p:cNvPr id="4" name="Image 0" descr="assets/circle_de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0" y="960120"/>
            <a:ext cx="2468880" cy="2715768"/>
          </a:xfrm>
          <a:prstGeom prst="rect">
            <a:avLst/>
          </a:prstGeom>
        </p:spPr>
      </p:pic>
      <p:pic>
        <p:nvPicPr>
          <p:cNvPr id="5" name="Image 1" descr="assets/wave_bottom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50240" y="8833104"/>
            <a:ext cx="3977640" cy="1463040"/>
          </a:xfrm>
          <a:prstGeom prst="rect">
            <a:avLst/>
          </a:prstGeom>
        </p:spPr>
      </p:pic>
      <p:pic>
        <p:nvPicPr>
          <p:cNvPr id="6" name="Image 2" descr="assets/swirl_toplef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481328" cy="1161288"/>
          </a:xfrm>
          <a:prstGeom prst="rect">
            <a:avLst/>
          </a:prstGeom>
        </p:spPr>
      </p:pic>
      <p:pic>
        <p:nvPicPr>
          <p:cNvPr id="7" name="Image 3" descr="assets/logo_topright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96360" y="0"/>
            <a:ext cx="1691640" cy="1161288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1005840" y="1188720"/>
            <a:ext cx="1417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CF4F4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BENEFITS OF CLOUD COMPUTING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3"/>
          <p:cNvSpPr/>
          <p:nvPr/>
        </p:nvSpPr>
        <p:spPr>
          <a:xfrm>
            <a:off x="1005840" y="3794760"/>
            <a:ext cx="16276320" cy="6126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2800" dirty="0">
                <a:solidFill>
                  <a:srgbClr val="3A3A3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Cost Efficiency: Pay-as-you-go pricing removes large upfront investments in hardware and data centers.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2800" dirty="0">
                <a:solidFill>
                  <a:srgbClr val="3A3A3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Scalability and Flexibility: Computing resources can be scaled up or down instantly based on demand.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2800" dirty="0">
                <a:solidFill>
                  <a:srgbClr val="3A3A3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Accessibility: Data and applications can be accessed anytime, anywhere with an internet connection.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2800" dirty="0">
                <a:solidFill>
                  <a:srgbClr val="3A3A3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Automatic Updates: Providers manage maintenance, security patches, and software upgrades.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2800" dirty="0">
                <a:solidFill>
                  <a:srgbClr val="3A3A3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Disaster Recovery: Built-in backup and recovery options reduce the risk of permanent data loss.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2800" dirty="0">
                <a:solidFill>
                  <a:srgbClr val="3A3A3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Collaboration: Teams can work together in real time on shared cloud-based platforms.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4"/>
          <p:cNvSpPr/>
          <p:nvPr/>
        </p:nvSpPr>
        <p:spPr>
          <a:xfrm>
            <a:off x="17190720" y="97840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A9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3328416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328416"/>
            <a:ext cx="18288000" cy="82296"/>
          </a:xfrm>
          <a:prstGeom prst="rect">
            <a:avLst/>
          </a:prstGeom>
          <a:solidFill>
            <a:srgbClr val="8D9677"/>
          </a:solidFill>
          <a:ln/>
        </p:spPr>
      </p:sp>
      <p:pic>
        <p:nvPicPr>
          <p:cNvPr id="4" name="Image 0" descr="assets/circle_de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0" y="960120"/>
            <a:ext cx="2468880" cy="2715768"/>
          </a:xfrm>
          <a:prstGeom prst="rect">
            <a:avLst/>
          </a:prstGeom>
        </p:spPr>
      </p:pic>
      <p:pic>
        <p:nvPicPr>
          <p:cNvPr id="5" name="Image 1" descr="assets/wave_bottom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50240" y="8833104"/>
            <a:ext cx="3977640" cy="1463040"/>
          </a:xfrm>
          <a:prstGeom prst="rect">
            <a:avLst/>
          </a:prstGeom>
        </p:spPr>
      </p:pic>
      <p:pic>
        <p:nvPicPr>
          <p:cNvPr id="6" name="Image 2" descr="assets/swirl_toplef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481328" cy="1161288"/>
          </a:xfrm>
          <a:prstGeom prst="rect">
            <a:avLst/>
          </a:prstGeom>
        </p:spPr>
      </p:pic>
      <p:pic>
        <p:nvPicPr>
          <p:cNvPr id="7" name="Image 3" descr="assets/logo_topright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96360" y="0"/>
            <a:ext cx="1691640" cy="1161288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1005840" y="1188720"/>
            <a:ext cx="1463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CF4F4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CHALLENGES OF CLOUD COMPUTING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3"/>
          <p:cNvSpPr/>
          <p:nvPr/>
        </p:nvSpPr>
        <p:spPr>
          <a:xfrm>
            <a:off x="1005840" y="3794760"/>
            <a:ext cx="16276320" cy="6126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2800" dirty="0">
                <a:solidFill>
                  <a:srgbClr val="3A3A3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Data Security and Privacy: Storing sensitive data offsite raises concerns about breaches and unauthorized access.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2800" dirty="0">
                <a:solidFill>
                  <a:srgbClr val="3A3A3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Downtime and Reliability: Service outages, even at major providers, can disrupt critical business operations.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2800" dirty="0">
                <a:solidFill>
                  <a:srgbClr val="3A3A3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Limited Control: Organizations depend on providers for infrastructure management and configuration choices.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2800" dirty="0">
                <a:solidFill>
                  <a:srgbClr val="3A3A3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Vendor Lock-In: Switching providers can be costly, time-consuming, and technically complex.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2800" dirty="0">
                <a:solidFill>
                  <a:srgbClr val="3A3A3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Bandwidth and Connectivity: Performance depends heavily on the reliability and speed of internet access</a:t>
            </a:r>
            <a:r>
              <a:rPr lang="en-US" sz="2200" dirty="0">
                <a:solidFill>
                  <a:srgbClr val="3A3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00" dirty="0"/>
          </a:p>
        </p:txBody>
      </p:sp>
      <p:sp>
        <p:nvSpPr>
          <p:cNvPr id="10" name="Text 4"/>
          <p:cNvSpPr/>
          <p:nvPr/>
        </p:nvSpPr>
        <p:spPr>
          <a:xfrm>
            <a:off x="17190720" y="97840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A9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3328416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328416"/>
            <a:ext cx="18288000" cy="82296"/>
          </a:xfrm>
          <a:prstGeom prst="rect">
            <a:avLst/>
          </a:prstGeom>
          <a:solidFill>
            <a:srgbClr val="8D9677"/>
          </a:solidFill>
          <a:ln/>
        </p:spPr>
      </p:sp>
      <p:pic>
        <p:nvPicPr>
          <p:cNvPr id="4" name="Image 0" descr="assets/circle_de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0" y="960120"/>
            <a:ext cx="2468880" cy="2715768"/>
          </a:xfrm>
          <a:prstGeom prst="rect">
            <a:avLst/>
          </a:prstGeom>
        </p:spPr>
      </p:pic>
      <p:pic>
        <p:nvPicPr>
          <p:cNvPr id="5" name="Image 1" descr="assets/wave_bottom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50240" y="8833104"/>
            <a:ext cx="3977640" cy="1463040"/>
          </a:xfrm>
          <a:prstGeom prst="rect">
            <a:avLst/>
          </a:prstGeom>
        </p:spPr>
      </p:pic>
      <p:pic>
        <p:nvPicPr>
          <p:cNvPr id="6" name="Image 2" descr="assets/swirl_toplef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481328" cy="1161288"/>
          </a:xfrm>
          <a:prstGeom prst="rect">
            <a:avLst/>
          </a:prstGeom>
        </p:spPr>
      </p:pic>
      <p:pic>
        <p:nvPicPr>
          <p:cNvPr id="7" name="Image 3" descr="assets/logo_topright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96360" y="0"/>
            <a:ext cx="1691640" cy="1161288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1005840" y="1188720"/>
            <a:ext cx="1463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CF4F4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MANAGING CLOUD RISKS EFFECTIVELY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3"/>
          <p:cNvSpPr/>
          <p:nvPr/>
        </p:nvSpPr>
        <p:spPr>
          <a:xfrm>
            <a:off x="1005840" y="3794760"/>
            <a:ext cx="16276320" cy="6126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2800" dirty="0">
                <a:solidFill>
                  <a:srgbClr val="3A3A3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Implement strong encryption and multi-factor authentication to protect sensitive data.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2800" dirty="0">
                <a:solidFill>
                  <a:srgbClr val="3A3A3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Choose providers offering strong Service Level Agreements (SLAs) with clear uptime guarantees.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2800" dirty="0">
                <a:solidFill>
                  <a:srgbClr val="3A3A3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Adopt multi-cloud or hybrid cloud strategies to reduce dependency on a single vendor.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2800" dirty="0">
                <a:solidFill>
                  <a:srgbClr val="3A3A3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Regularly audit compliance with regional and industry-specific data protection regulations.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2800" dirty="0">
                <a:solidFill>
                  <a:srgbClr val="3A3A3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Train staff on cloud security best practices and strict access management.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2800" dirty="0">
                <a:solidFill>
                  <a:srgbClr val="3A3A3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Continuously monitor performance and costs using cloud management and observability tools.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4"/>
          <p:cNvSpPr/>
          <p:nvPr/>
        </p:nvSpPr>
        <p:spPr>
          <a:xfrm>
            <a:off x="17190720" y="97840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A9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3328416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328416"/>
            <a:ext cx="18288000" cy="82296"/>
          </a:xfrm>
          <a:prstGeom prst="rect">
            <a:avLst/>
          </a:prstGeom>
          <a:solidFill>
            <a:srgbClr val="8D9677"/>
          </a:solidFill>
          <a:ln/>
        </p:spPr>
      </p:sp>
      <p:pic>
        <p:nvPicPr>
          <p:cNvPr id="4" name="Image 0" descr="assets/circle_de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0" y="960120"/>
            <a:ext cx="2468880" cy="2715768"/>
          </a:xfrm>
          <a:prstGeom prst="rect">
            <a:avLst/>
          </a:prstGeom>
        </p:spPr>
      </p:pic>
      <p:pic>
        <p:nvPicPr>
          <p:cNvPr id="5" name="Image 1" descr="assets/wave_bottom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50240" y="8833104"/>
            <a:ext cx="3977640" cy="1463040"/>
          </a:xfrm>
          <a:prstGeom prst="rect">
            <a:avLst/>
          </a:prstGeom>
        </p:spPr>
      </p:pic>
      <p:pic>
        <p:nvPicPr>
          <p:cNvPr id="6" name="Image 2" descr="assets/swirl_toplef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481328" cy="1161288"/>
          </a:xfrm>
          <a:prstGeom prst="rect">
            <a:avLst/>
          </a:prstGeom>
        </p:spPr>
      </p:pic>
      <p:pic>
        <p:nvPicPr>
          <p:cNvPr id="7" name="Image 3" descr="assets/logo_topright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96360" y="0"/>
            <a:ext cx="1691640" cy="1161288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1005840" y="1188720"/>
            <a:ext cx="1371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C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</a:t>
            </a:r>
            <a:r>
              <a:rPr lang="en-US" sz="4400" b="1" dirty="0">
                <a:solidFill>
                  <a:srgbClr val="FCF4F4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N</a:t>
            </a:r>
            <a:r>
              <a:rPr lang="en-US" sz="4400" b="1" dirty="0">
                <a:solidFill>
                  <a:srgbClr val="FC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CLUSION</a:t>
            </a:r>
            <a:endParaRPr lang="en-US" sz="4400" dirty="0"/>
          </a:p>
        </p:txBody>
      </p:sp>
      <p:sp>
        <p:nvSpPr>
          <p:cNvPr id="9" name="Text 3"/>
          <p:cNvSpPr/>
          <p:nvPr/>
        </p:nvSpPr>
        <p:spPr>
          <a:xfrm>
            <a:off x="1005840" y="3794760"/>
            <a:ext cx="16276320" cy="6126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2800" dirty="0">
                <a:solidFill>
                  <a:srgbClr val="3A3A3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Cloud computing offers significant advantages in cost savings, scalability, and accessibility.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2800" dirty="0">
                <a:solidFill>
                  <a:srgbClr val="3A3A3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Challenges around security, reliability, and control must be carefully assessed and managed.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2800" dirty="0">
                <a:solidFill>
                  <a:srgbClr val="3A3A3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Successful adoption requires balancing these benefits with proactive risk-mitigation strategies.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2800" dirty="0">
                <a:solidFill>
                  <a:srgbClr val="3A3A3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Organizations that plan their cloud strategy thoughtfully gain a real competitive edge in efficiency and innovation.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2800" dirty="0">
                <a:solidFill>
                  <a:srgbClr val="3A3A3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The future of computing will continue to be shaped by ongoing advances in cloud technology.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4"/>
          <p:cNvSpPr/>
          <p:nvPr/>
        </p:nvSpPr>
        <p:spPr>
          <a:xfrm>
            <a:off x="17190720" y="97840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A9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76ECE3-26D6-3867-8015-2D7717994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782" y="1177636"/>
            <a:ext cx="13785273" cy="9109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305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499</Words>
  <Application>Microsoft Office PowerPoint</Application>
  <PresentationFormat>Custom</PresentationFormat>
  <Paragraphs>50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V.KAVYA JASMINE</cp:lastModifiedBy>
  <cp:revision>2</cp:revision>
  <dcterms:created xsi:type="dcterms:W3CDTF">2026-07-22T17:38:20Z</dcterms:created>
  <dcterms:modified xsi:type="dcterms:W3CDTF">2026-07-28T09:25:39Z</dcterms:modified>
</cp:coreProperties>
</file>